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Roboto"/>
      <p:regular r:id="rId15"/>
      <p:bold r:id="rId16"/>
      <p:italic r:id="rId17"/>
      <p:boldItalic r:id="rId18"/>
    </p:embeddedFont>
    <p:embeddedFont>
      <p:font typeface="Merriweather"/>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erriweather-bold.fntdata"/><Relationship Id="rId11" Type="http://schemas.openxmlformats.org/officeDocument/2006/relationships/slide" Target="slides/slide6.xml"/><Relationship Id="rId22" Type="http://schemas.openxmlformats.org/officeDocument/2006/relationships/font" Target="fonts/Merriweather-boldItalic.fntdata"/><Relationship Id="rId10" Type="http://schemas.openxmlformats.org/officeDocument/2006/relationships/slide" Target="slides/slide5.xml"/><Relationship Id="rId21" Type="http://schemas.openxmlformats.org/officeDocument/2006/relationships/font" Target="fonts/Merriweather-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regular.fntdata"/><Relationship Id="rId14" Type="http://schemas.openxmlformats.org/officeDocument/2006/relationships/slide" Target="slides/slide9.xml"/><Relationship Id="rId17" Type="http://schemas.openxmlformats.org/officeDocument/2006/relationships/font" Target="fonts/Roboto-italic.fntdata"/><Relationship Id="rId16" Type="http://schemas.openxmlformats.org/officeDocument/2006/relationships/font" Target="fonts/Roboto-bold.fntdata"/><Relationship Id="rId5" Type="http://schemas.openxmlformats.org/officeDocument/2006/relationships/notesMaster" Target="notesMasters/notesMaster1.xml"/><Relationship Id="rId19" Type="http://schemas.openxmlformats.org/officeDocument/2006/relationships/font" Target="fonts/Merriweather-regular.fntdata"/><Relationship Id="rId6" Type="http://schemas.openxmlformats.org/officeDocument/2006/relationships/slide" Target="slides/slide1.xml"/><Relationship Id="rId18"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a15f00079e_0_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a15f00079e_0_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a15f00079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a15f00079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a15f00079e_0_4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a15f00079e_0_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a1c7f800e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a1c7f800e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a1c7f800e4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a1c7f800e4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a1c7f800e4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a1c7f800e4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a1c7f800e4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a1c7f800e4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a1d43290f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a1d43290f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hyperlink" Target="https://csh.umn.edu/for-community/mindfulness-programs/mindfulness-work/mindfulness-work-course-guided-meditations" TargetMode="External"/><Relationship Id="rId4" Type="http://schemas.openxmlformats.org/officeDocument/2006/relationships/hyperlink" Target="https://pmc.ncbi.nlm.nih.gov/articles/PMC10355843/"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hyperlink" Target="https://arxiv.org/abs/2002.08909" TargetMode="External"/><Relationship Id="rId4" Type="http://schemas.openxmlformats.org/officeDocument/2006/relationships/hyperlink" Target="https://arxiv.org/abs/2005.11401"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3"/>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Guided Meditation Generation using RAG</a:t>
            </a:r>
            <a:endParaRPr/>
          </a:p>
        </p:txBody>
      </p:sp>
      <p:sp>
        <p:nvSpPr>
          <p:cNvPr id="65" name="Google Shape;65;p13"/>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Trevor Hitchcock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Project Objectives</a:t>
            </a:r>
            <a:endParaRPr/>
          </a:p>
        </p:txBody>
      </p:sp>
      <p:sp>
        <p:nvSpPr>
          <p:cNvPr id="71" name="Google Shape;71;p1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Develop a RAG system that generates personalized guided meditation scripts based on scientifically-backed principles</a:t>
            </a:r>
            <a:endParaRPr/>
          </a:p>
          <a:p>
            <a:pPr indent="-311150" lvl="0" marL="457200" rtl="0" algn="l">
              <a:spcBef>
                <a:spcPts val="0"/>
              </a:spcBef>
              <a:spcAft>
                <a:spcPts val="0"/>
              </a:spcAft>
              <a:buSzPts val="1300"/>
              <a:buChar char="●"/>
            </a:pPr>
            <a:r>
              <a:rPr lang="en"/>
              <a:t>The model should be able to answer basic questions about meditation benefits and techniques</a:t>
            </a:r>
            <a:endParaRPr/>
          </a:p>
          <a:p>
            <a:pPr indent="-311150" lvl="0" marL="457200" rtl="0" algn="l">
              <a:spcBef>
                <a:spcPts val="0"/>
              </a:spcBef>
              <a:spcAft>
                <a:spcPts val="0"/>
              </a:spcAft>
              <a:buSzPts val="1300"/>
              <a:buChar char="●"/>
            </a:pPr>
            <a:r>
              <a:rPr lang="en"/>
              <a:t>Evaluate the strengths / weaknesses between different models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Corpus</a:t>
            </a:r>
            <a:endParaRPr/>
          </a:p>
        </p:txBody>
      </p:sp>
      <p:sp>
        <p:nvSpPr>
          <p:cNvPr id="77" name="Google Shape;77;p1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Guided meditation scripts-</a:t>
            </a:r>
            <a:endParaRPr/>
          </a:p>
          <a:p>
            <a:pPr indent="-311150" lvl="0" marL="457200" rtl="0" algn="l">
              <a:spcBef>
                <a:spcPts val="1200"/>
              </a:spcBef>
              <a:spcAft>
                <a:spcPts val="0"/>
              </a:spcAft>
              <a:buSzPts val="1300"/>
              <a:buChar char="●"/>
            </a:pPr>
            <a:r>
              <a:rPr lang="en" u="sng">
                <a:solidFill>
                  <a:schemeClr val="hlink"/>
                </a:solidFill>
                <a:hlinkClick r:id="rId3"/>
              </a:rPr>
              <a:t>https://csh.umn.edu/for-community/mindfulness-programs/mindfulness-work/mindfulness-work-course-guided-meditations</a:t>
            </a:r>
            <a:endParaRPr/>
          </a:p>
          <a:p>
            <a:pPr indent="-311150" lvl="0" marL="457200" rtl="0" algn="l">
              <a:spcBef>
                <a:spcPts val="0"/>
              </a:spcBef>
              <a:spcAft>
                <a:spcPts val="0"/>
              </a:spcAft>
              <a:buSzPts val="1300"/>
              <a:buChar char="●"/>
            </a:pPr>
            <a:r>
              <a:rPr lang="en"/>
              <a:t>21 free pdfs</a:t>
            </a:r>
            <a:endParaRPr/>
          </a:p>
          <a:p>
            <a:pPr indent="-311150" lvl="0" marL="457200" rtl="0" algn="l">
              <a:spcBef>
                <a:spcPts val="0"/>
              </a:spcBef>
              <a:spcAft>
                <a:spcPts val="0"/>
              </a:spcAft>
              <a:buSzPts val="1300"/>
              <a:buChar char="●"/>
            </a:pPr>
            <a:r>
              <a:rPr lang="en"/>
              <a:t>1-2 pages each</a:t>
            </a:r>
            <a:endParaRPr/>
          </a:p>
          <a:p>
            <a:pPr indent="0" lvl="0" marL="0" rtl="0" algn="l">
              <a:spcBef>
                <a:spcPts val="1200"/>
              </a:spcBef>
              <a:spcAft>
                <a:spcPts val="1200"/>
              </a:spcAft>
              <a:buNone/>
            </a:pPr>
            <a:r>
              <a:rPr lang="en"/>
              <a:t>These texts will teach the LLM word choice, structure, and tone of generated guided meditations.</a:t>
            </a:r>
            <a:endParaRPr/>
          </a:p>
        </p:txBody>
      </p:sp>
      <p:sp>
        <p:nvSpPr>
          <p:cNvPr id="78" name="Google Shape;78;p1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Theory text-</a:t>
            </a:r>
            <a:endParaRPr/>
          </a:p>
          <a:p>
            <a:pPr indent="-311150" lvl="0" marL="457200" rtl="0" algn="l">
              <a:spcBef>
                <a:spcPts val="1200"/>
              </a:spcBef>
              <a:spcAft>
                <a:spcPts val="0"/>
              </a:spcAft>
              <a:buSzPts val="1300"/>
              <a:buChar char="●"/>
            </a:pPr>
            <a:r>
              <a:rPr lang="en" u="sng">
                <a:solidFill>
                  <a:schemeClr val="hlink"/>
                </a:solidFill>
                <a:hlinkClick r:id="rId4"/>
              </a:rPr>
              <a:t>https://pmc.ncbi.nlm.nih.gov/articles/PMC10355843/</a:t>
            </a:r>
            <a:endParaRPr/>
          </a:p>
          <a:p>
            <a:pPr indent="-311150" lvl="0" marL="457200" rtl="0" algn="l">
              <a:spcBef>
                <a:spcPts val="0"/>
              </a:spcBef>
              <a:spcAft>
                <a:spcPts val="0"/>
              </a:spcAft>
              <a:buSzPts val="1300"/>
              <a:buChar char="●"/>
            </a:pPr>
            <a:r>
              <a:rPr lang="en"/>
              <a:t>Research paper “Meditation and Its Mental and Physical Health Benefits in 2023”</a:t>
            </a:r>
            <a:endParaRPr/>
          </a:p>
          <a:p>
            <a:pPr indent="-311150" lvl="0" marL="457200" rtl="0" algn="l">
              <a:spcBef>
                <a:spcPts val="0"/>
              </a:spcBef>
              <a:spcAft>
                <a:spcPts val="0"/>
              </a:spcAft>
              <a:buSzPts val="1300"/>
              <a:buChar char="●"/>
            </a:pPr>
            <a:r>
              <a:rPr lang="en"/>
              <a:t>Gives a great overview of the scientific “why” behind meditation</a:t>
            </a:r>
            <a:endParaRPr/>
          </a:p>
          <a:p>
            <a:pPr indent="0" lvl="0" marL="0" rtl="0" algn="l">
              <a:spcBef>
                <a:spcPts val="1200"/>
              </a:spcBef>
              <a:spcAft>
                <a:spcPts val="1200"/>
              </a:spcAft>
              <a:buNone/>
            </a:pPr>
            <a:r>
              <a:rPr lang="en"/>
              <a:t>This text will teach the LLM the concepts and goals of meditation.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Statement of Value</a:t>
            </a:r>
            <a:endParaRPr/>
          </a:p>
        </p:txBody>
      </p:sp>
      <p:sp>
        <p:nvSpPr>
          <p:cNvPr id="84" name="Google Shape;84;p16"/>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 believe this project is worth doing because all guided meditations found online (Headspace, YouTube, etc.) are all extremely general and designed to be mass-consumed. These meditations often include something along the lines of “whatever is bothering you, let go of this anxiety you have towards the situation”, which is good for producing guided meditations that will reach many people. However, meditation is an extremely personal practice and requires specific guidance through situations. These generic prompts leave the user having to fill in the blanks about what they want to meditate on. Instead, my project aims to create guided meditation scripts curated specifically for user inputs, which can currently only be done with a therapist, meditation teacher, etc. My project provides a cheaper and faster alternative to these resources.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State of the Art in RAG Systems</a:t>
            </a:r>
            <a:endParaRPr/>
          </a:p>
        </p:txBody>
      </p:sp>
      <p:sp>
        <p:nvSpPr>
          <p:cNvPr id="90" name="Google Shape;90;p17"/>
          <p:cNvSpPr txBox="1"/>
          <p:nvPr>
            <p:ph idx="1" type="body"/>
          </p:nvPr>
        </p:nvSpPr>
        <p:spPr>
          <a:xfrm>
            <a:off x="311700" y="1505700"/>
            <a:ext cx="8520600" cy="363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Main idea-</a:t>
            </a:r>
            <a:endParaRPr/>
          </a:p>
          <a:p>
            <a:pPr indent="-311150" lvl="0" marL="457200" rtl="0" algn="l">
              <a:spcBef>
                <a:spcPts val="1200"/>
              </a:spcBef>
              <a:spcAft>
                <a:spcPts val="0"/>
              </a:spcAft>
              <a:buSzPts val="1300"/>
              <a:buChar char="●"/>
            </a:pPr>
            <a:r>
              <a:rPr lang="en"/>
              <a:t>Use </a:t>
            </a:r>
            <a:r>
              <a:rPr lang="en" u="sng"/>
              <a:t>retrieval</a:t>
            </a:r>
            <a:r>
              <a:rPr lang="en"/>
              <a:t> mechanism to identify relevant documents and information (week 10 slides)</a:t>
            </a:r>
            <a:endParaRPr/>
          </a:p>
          <a:p>
            <a:pPr indent="0" lvl="0" marL="0" rtl="0" algn="l">
              <a:spcBef>
                <a:spcPts val="1200"/>
              </a:spcBef>
              <a:spcAft>
                <a:spcPts val="0"/>
              </a:spcAft>
              <a:buNone/>
            </a:pPr>
            <a:r>
              <a:rPr lang="en"/>
              <a:t>Sources-</a:t>
            </a:r>
            <a:endParaRPr/>
          </a:p>
          <a:p>
            <a:pPr indent="-311150" lvl="0" marL="457200" rtl="0" algn="l">
              <a:spcBef>
                <a:spcPts val="1200"/>
              </a:spcBef>
              <a:spcAft>
                <a:spcPts val="0"/>
              </a:spcAft>
              <a:buSzPts val="1300"/>
              <a:buChar char="●"/>
            </a:pPr>
            <a:r>
              <a:rPr lang="en"/>
              <a:t>REALM: trains retriever model with language model, makes knowledge more modular by separating the models knowledge from its parameters (</a:t>
            </a:r>
            <a:r>
              <a:rPr lang="en" u="sng">
                <a:solidFill>
                  <a:schemeClr val="hlink"/>
                </a:solidFill>
                <a:hlinkClick r:id="rId3"/>
              </a:rPr>
              <a:t>https://arxiv.org/abs/2002.08909</a:t>
            </a:r>
            <a:r>
              <a:rPr lang="en"/>
              <a:t>)</a:t>
            </a:r>
            <a:endParaRPr/>
          </a:p>
          <a:p>
            <a:pPr indent="-311150" lvl="0" marL="457200" rtl="0" algn="l">
              <a:spcBef>
                <a:spcPts val="0"/>
              </a:spcBef>
              <a:spcAft>
                <a:spcPts val="0"/>
              </a:spcAft>
              <a:buSzPts val="1300"/>
              <a:buChar char="●"/>
            </a:pPr>
            <a:r>
              <a:rPr lang="en"/>
              <a:t>RAG: created first “general-purpose fine-tuning recipe for RAG”. Uses both parametric (pre-trained seq2seq model) and </a:t>
            </a:r>
            <a:r>
              <a:rPr lang="en"/>
              <a:t>nonparametric</a:t>
            </a:r>
            <a:r>
              <a:rPr lang="en"/>
              <a:t> memory (a dense vector index of Wikipedia) (</a:t>
            </a:r>
            <a:r>
              <a:rPr lang="en" u="sng">
                <a:solidFill>
                  <a:schemeClr val="hlink"/>
                </a:solidFill>
                <a:hlinkClick r:id="rId4"/>
              </a:rPr>
              <a:t>https://arxiv.org/abs/2005.11401</a:t>
            </a:r>
            <a:r>
              <a:rPr lang="en"/>
              <a:t>)</a:t>
            </a:r>
            <a:endParaRPr/>
          </a:p>
          <a:p>
            <a:pPr indent="0" lvl="0" marL="0" rtl="0" algn="l">
              <a:spcBef>
                <a:spcPts val="1200"/>
              </a:spcBef>
              <a:spcAft>
                <a:spcPts val="0"/>
              </a:spcAft>
              <a:buNone/>
            </a:pPr>
            <a:r>
              <a:rPr lang="en"/>
              <a:t>Benefits- </a:t>
            </a:r>
            <a:endParaRPr/>
          </a:p>
          <a:p>
            <a:pPr indent="-311150" lvl="0" marL="457200" rtl="0" algn="l">
              <a:spcBef>
                <a:spcPts val="1200"/>
              </a:spcBef>
              <a:spcAft>
                <a:spcPts val="0"/>
              </a:spcAft>
              <a:buSzPts val="1300"/>
              <a:buChar char="●"/>
            </a:pPr>
            <a:r>
              <a:rPr lang="en"/>
              <a:t>Better factual accuracy for knowledge-intensive tasks</a:t>
            </a:r>
            <a:endParaRPr/>
          </a:p>
          <a:p>
            <a:pPr indent="-311150" lvl="0" marL="457200" rtl="0" algn="l">
              <a:spcBef>
                <a:spcPts val="0"/>
              </a:spcBef>
              <a:spcAft>
                <a:spcPts val="0"/>
              </a:spcAft>
              <a:buSzPts val="1300"/>
              <a:buChar char="●"/>
            </a:pPr>
            <a:r>
              <a:rPr lang="en"/>
              <a:t>Ability to more easily update knowledge via modifying corpus instead of retraining model</a:t>
            </a:r>
            <a:endParaRPr/>
          </a:p>
          <a:p>
            <a:pPr indent="-311150" lvl="0" marL="457200" rtl="0" algn="l">
              <a:spcBef>
                <a:spcPts val="0"/>
              </a:spcBef>
              <a:spcAft>
                <a:spcPts val="0"/>
              </a:spcAft>
              <a:buSzPts val="1300"/>
              <a:buChar char="●"/>
            </a:pPr>
            <a:r>
              <a:rPr lang="en"/>
              <a:t>More accurate citations compared to traditional LLMs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Approach</a:t>
            </a:r>
            <a:endParaRPr/>
          </a:p>
        </p:txBody>
      </p:sp>
      <p:sp>
        <p:nvSpPr>
          <p:cNvPr id="96" name="Google Shape;96;p18"/>
          <p:cNvSpPr txBox="1"/>
          <p:nvPr>
            <p:ph idx="1" type="body"/>
          </p:nvPr>
        </p:nvSpPr>
        <p:spPr>
          <a:xfrm>
            <a:off x="311700" y="1276851"/>
            <a:ext cx="8520600" cy="3866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LLMs (free/open source):</a:t>
            </a:r>
            <a:endParaRPr/>
          </a:p>
          <a:p>
            <a:pPr indent="-311150" lvl="0" marL="457200" rtl="0" algn="l">
              <a:spcBef>
                <a:spcPts val="1200"/>
              </a:spcBef>
              <a:spcAft>
                <a:spcPts val="0"/>
              </a:spcAft>
              <a:buSzPts val="1300"/>
              <a:buChar char="●"/>
            </a:pPr>
            <a:r>
              <a:rPr lang="en"/>
              <a:t>Minstrel</a:t>
            </a:r>
            <a:r>
              <a:rPr lang="en"/>
              <a:t> 7B Instruct - small general-purpose model known for fluent and natural text generation</a:t>
            </a:r>
            <a:endParaRPr/>
          </a:p>
          <a:p>
            <a:pPr indent="-311150" lvl="0" marL="457200" rtl="0" algn="l">
              <a:spcBef>
                <a:spcPts val="0"/>
              </a:spcBef>
              <a:spcAft>
                <a:spcPts val="0"/>
              </a:spcAft>
              <a:buSzPts val="1300"/>
              <a:buChar char="●"/>
            </a:pPr>
            <a:r>
              <a:rPr lang="en"/>
              <a:t>Llama 3 8B Instruct - larger model with better factual grounding and instruction following</a:t>
            </a:r>
            <a:endParaRPr/>
          </a:p>
          <a:p>
            <a:pPr indent="-311150" lvl="0" marL="457200" rtl="0" algn="l">
              <a:spcBef>
                <a:spcPts val="0"/>
              </a:spcBef>
              <a:spcAft>
                <a:spcPts val="0"/>
              </a:spcAft>
              <a:buSzPts val="1300"/>
              <a:buChar char="●"/>
            </a:pPr>
            <a:r>
              <a:rPr lang="en"/>
              <a:t>Falcon 7B Instruct - fine-tuned for dialogue and helpful responses</a:t>
            </a:r>
            <a:endParaRPr/>
          </a:p>
          <a:p>
            <a:pPr indent="0" lvl="0" marL="0" rtl="0" algn="l">
              <a:spcBef>
                <a:spcPts val="1200"/>
              </a:spcBef>
              <a:spcAft>
                <a:spcPts val="0"/>
              </a:spcAft>
              <a:buNone/>
            </a:pPr>
            <a:r>
              <a:rPr lang="en"/>
              <a:t>Datasets / knowledge base:</a:t>
            </a:r>
            <a:endParaRPr/>
          </a:p>
          <a:p>
            <a:pPr indent="-311150" lvl="0" marL="457200" rtl="0" algn="l">
              <a:spcBef>
                <a:spcPts val="1200"/>
              </a:spcBef>
              <a:spcAft>
                <a:spcPts val="0"/>
              </a:spcAft>
              <a:buSzPts val="1300"/>
              <a:buChar char="●"/>
            </a:pPr>
            <a:r>
              <a:rPr lang="en"/>
              <a:t>21 labeled guided meditation PDFs mentioned on slide 3</a:t>
            </a:r>
            <a:endParaRPr/>
          </a:p>
          <a:p>
            <a:pPr indent="-311150" lvl="0" marL="457200" rtl="0" algn="l">
              <a:spcBef>
                <a:spcPts val="0"/>
              </a:spcBef>
              <a:spcAft>
                <a:spcPts val="0"/>
              </a:spcAft>
              <a:buSzPts val="1300"/>
              <a:buChar char="●"/>
            </a:pPr>
            <a:r>
              <a:rPr lang="en"/>
              <a:t>“Meditation and Its Mental and Physical Health Benefits in 2023” mentioned on slide 3</a:t>
            </a:r>
            <a:endParaRPr/>
          </a:p>
          <a:p>
            <a:pPr indent="0" lvl="0" marL="0" rtl="0" algn="l">
              <a:spcBef>
                <a:spcPts val="1200"/>
              </a:spcBef>
              <a:spcAft>
                <a:spcPts val="0"/>
              </a:spcAft>
              <a:buNone/>
            </a:pPr>
            <a:r>
              <a:rPr lang="en"/>
              <a:t>System architecture:</a:t>
            </a:r>
            <a:endParaRPr/>
          </a:p>
          <a:p>
            <a:pPr indent="-311150" lvl="0" marL="457200" rtl="0" algn="l">
              <a:spcBef>
                <a:spcPts val="1200"/>
              </a:spcBef>
              <a:spcAft>
                <a:spcPts val="0"/>
              </a:spcAft>
              <a:buSzPts val="1300"/>
              <a:buChar char="●"/>
            </a:pPr>
            <a:r>
              <a:rPr lang="en"/>
              <a:t>Ingestion and indexing-</a:t>
            </a:r>
            <a:endParaRPr/>
          </a:p>
          <a:p>
            <a:pPr indent="-298450" lvl="1" marL="914400" rtl="0" algn="l">
              <a:spcBef>
                <a:spcPts val="0"/>
              </a:spcBef>
              <a:spcAft>
                <a:spcPts val="0"/>
              </a:spcAft>
              <a:buSzPts val="1100"/>
              <a:buChar char="○"/>
            </a:pPr>
            <a:r>
              <a:rPr lang="en"/>
              <a:t>Extract text from PDFs, split into chunks, embed with transformer, store in vector DB with metadata</a:t>
            </a:r>
            <a:endParaRPr/>
          </a:p>
          <a:p>
            <a:pPr indent="-311150" lvl="0" marL="457200" rtl="0" algn="l">
              <a:spcBef>
                <a:spcPts val="0"/>
              </a:spcBef>
              <a:spcAft>
                <a:spcPts val="0"/>
              </a:spcAft>
              <a:buSzPts val="1300"/>
              <a:buChar char="●"/>
            </a:pPr>
            <a:r>
              <a:rPr lang="en"/>
              <a:t>Retrieval-</a:t>
            </a:r>
            <a:endParaRPr/>
          </a:p>
          <a:p>
            <a:pPr indent="-298450" lvl="1" marL="914400" rtl="0" algn="l">
              <a:spcBef>
                <a:spcPts val="0"/>
              </a:spcBef>
              <a:spcAft>
                <a:spcPts val="0"/>
              </a:spcAft>
              <a:buSzPts val="1100"/>
              <a:buChar char="○"/>
            </a:pPr>
            <a:r>
              <a:rPr lang="en"/>
              <a:t>For each </a:t>
            </a:r>
            <a:r>
              <a:rPr lang="en"/>
              <a:t>prompt</a:t>
            </a:r>
            <a:r>
              <a:rPr lang="en"/>
              <a:t> (ex: “10-min pre-sleep calm meditation” or “What does research say about meditation for anxiety?”), retrieve best k relevant chunks filtered by metadata</a:t>
            </a:r>
            <a:endParaRPr/>
          </a:p>
          <a:p>
            <a:pPr indent="-311150" lvl="0" marL="457200" rtl="0" algn="l">
              <a:spcBef>
                <a:spcPts val="0"/>
              </a:spcBef>
              <a:spcAft>
                <a:spcPts val="0"/>
              </a:spcAft>
              <a:buSzPts val="1300"/>
              <a:buChar char="●"/>
            </a:pPr>
            <a:r>
              <a:rPr lang="en"/>
              <a:t>Generation-</a:t>
            </a:r>
            <a:endParaRPr/>
          </a:p>
          <a:p>
            <a:pPr indent="-298450" lvl="1" marL="914400" rtl="0" algn="l">
              <a:spcBef>
                <a:spcPts val="0"/>
              </a:spcBef>
              <a:spcAft>
                <a:spcPts val="0"/>
              </a:spcAft>
              <a:buSzPts val="1100"/>
              <a:buChar char="○"/>
            </a:pPr>
            <a:r>
              <a:rPr lang="en"/>
              <a:t>Construct a prompt with: user request + retrieved chunks, LLM generates either a meditation </a:t>
            </a:r>
            <a:r>
              <a:rPr lang="en"/>
              <a:t>script</a:t>
            </a:r>
            <a:r>
              <a:rPr lang="en"/>
              <a:t> or an </a:t>
            </a:r>
            <a:r>
              <a:rPr lang="en"/>
              <a:t>explanation</a:t>
            </a:r>
            <a:r>
              <a:rPr lang="en"/>
              <a:t> about meditation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Deliverables</a:t>
            </a:r>
            <a:endParaRPr/>
          </a:p>
        </p:txBody>
      </p:sp>
      <p:sp>
        <p:nvSpPr>
          <p:cNvPr id="102" name="Google Shape;102;p19"/>
          <p:cNvSpPr txBox="1"/>
          <p:nvPr>
            <p:ph idx="1" type="body"/>
          </p:nvPr>
        </p:nvSpPr>
        <p:spPr>
          <a:xfrm>
            <a:off x="311700" y="1429250"/>
            <a:ext cx="8520600" cy="3390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RAG </a:t>
            </a:r>
            <a:r>
              <a:rPr lang="en"/>
              <a:t>system</a:t>
            </a:r>
            <a:r>
              <a:rPr lang="en"/>
              <a:t>:</a:t>
            </a:r>
            <a:endParaRPr/>
          </a:p>
          <a:p>
            <a:pPr indent="-298450" lvl="1" marL="914400" rtl="0" algn="l">
              <a:spcBef>
                <a:spcPts val="0"/>
              </a:spcBef>
              <a:spcAft>
                <a:spcPts val="0"/>
              </a:spcAft>
              <a:buSzPts val="1100"/>
              <a:buChar char="○"/>
            </a:pPr>
            <a:r>
              <a:rPr lang="en"/>
              <a:t>Functional Python script(s) demonstrating retrieval, context injection, and generation</a:t>
            </a:r>
            <a:endParaRPr/>
          </a:p>
          <a:p>
            <a:pPr indent="-298450" lvl="1" marL="914400" rtl="0" algn="l">
              <a:spcBef>
                <a:spcPts val="0"/>
              </a:spcBef>
              <a:spcAft>
                <a:spcPts val="0"/>
              </a:spcAft>
              <a:buSzPts val="1100"/>
              <a:buChar char="○"/>
            </a:pPr>
            <a:r>
              <a:rPr lang="en"/>
              <a:t>Relevance: demonstration of project statement</a:t>
            </a:r>
            <a:endParaRPr/>
          </a:p>
          <a:p>
            <a:pPr indent="-311150" lvl="0" marL="457200" rtl="0" algn="l">
              <a:spcBef>
                <a:spcPts val="0"/>
              </a:spcBef>
              <a:spcAft>
                <a:spcPts val="0"/>
              </a:spcAft>
              <a:buSzPts val="1300"/>
              <a:buChar char="●"/>
            </a:pPr>
            <a:r>
              <a:rPr lang="en"/>
              <a:t>Knowledge base:</a:t>
            </a:r>
            <a:endParaRPr/>
          </a:p>
          <a:p>
            <a:pPr indent="-298450" lvl="1" marL="914400" rtl="0" algn="l">
              <a:spcBef>
                <a:spcPts val="0"/>
              </a:spcBef>
              <a:spcAft>
                <a:spcPts val="0"/>
              </a:spcAft>
              <a:buSzPts val="1100"/>
              <a:buChar char="○"/>
            </a:pPr>
            <a:r>
              <a:rPr lang="en"/>
              <a:t>Guided meditation PDFs and paper “Meditation and Its Mental and Physical Health Benefits in 2023”</a:t>
            </a:r>
            <a:endParaRPr/>
          </a:p>
          <a:p>
            <a:pPr indent="-298450" lvl="1" marL="914400" rtl="0" algn="l">
              <a:spcBef>
                <a:spcPts val="0"/>
              </a:spcBef>
              <a:spcAft>
                <a:spcPts val="0"/>
              </a:spcAft>
              <a:buSzPts val="1100"/>
              <a:buChar char="○"/>
            </a:pPr>
            <a:r>
              <a:rPr lang="en"/>
              <a:t>Relevance: represents factual foundation of the system</a:t>
            </a:r>
            <a:endParaRPr/>
          </a:p>
          <a:p>
            <a:pPr indent="-311150" lvl="0" marL="457200" rtl="0" algn="l">
              <a:spcBef>
                <a:spcPts val="0"/>
              </a:spcBef>
              <a:spcAft>
                <a:spcPts val="0"/>
              </a:spcAft>
              <a:buSzPts val="1300"/>
              <a:buChar char="●"/>
            </a:pPr>
            <a:r>
              <a:rPr lang="en"/>
              <a:t>Evaluation report:</a:t>
            </a:r>
            <a:endParaRPr/>
          </a:p>
          <a:p>
            <a:pPr indent="-298450" lvl="1" marL="914400" rtl="0" algn="l">
              <a:spcBef>
                <a:spcPts val="0"/>
              </a:spcBef>
              <a:spcAft>
                <a:spcPts val="0"/>
              </a:spcAft>
              <a:buSzPts val="1100"/>
              <a:buChar char="○"/>
            </a:pPr>
            <a:r>
              <a:rPr lang="en"/>
              <a:t>Analyzes the differences in performance, accuracy, and approach between the models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Evaluation Methodology</a:t>
            </a:r>
            <a:endParaRPr/>
          </a:p>
        </p:txBody>
      </p:sp>
      <p:sp>
        <p:nvSpPr>
          <p:cNvPr id="108" name="Google Shape;108;p20"/>
          <p:cNvSpPr txBox="1"/>
          <p:nvPr>
            <p:ph idx="1" type="body"/>
          </p:nvPr>
        </p:nvSpPr>
        <p:spPr>
          <a:xfrm>
            <a:off x="311700" y="1505700"/>
            <a:ext cx="8520600" cy="3076200"/>
          </a:xfrm>
          <a:prstGeom prst="rect">
            <a:avLst/>
          </a:prstGeom>
        </p:spPr>
        <p:txBody>
          <a:bodyPr anchorCtr="0" anchor="t" bIns="91425" lIns="91425" spcFirstLastPara="1" rIns="91425" wrap="square" tIns="91425">
            <a:normAutofit lnSpcReduction="20000"/>
          </a:bodyPr>
          <a:lstStyle/>
          <a:p>
            <a:pPr indent="-311150" lvl="0" marL="457200" rtl="0" algn="l">
              <a:spcBef>
                <a:spcPts val="0"/>
              </a:spcBef>
              <a:spcAft>
                <a:spcPts val="0"/>
              </a:spcAft>
              <a:buSzPts val="1300"/>
              <a:buChar char="●"/>
            </a:pPr>
            <a:r>
              <a:rPr lang="en"/>
              <a:t>Setup:</a:t>
            </a:r>
            <a:endParaRPr/>
          </a:p>
          <a:p>
            <a:pPr indent="-298450" lvl="1" marL="914400" rtl="0" algn="l">
              <a:spcBef>
                <a:spcPts val="0"/>
              </a:spcBef>
              <a:spcAft>
                <a:spcPts val="0"/>
              </a:spcAft>
              <a:buSzPts val="1100"/>
              <a:buChar char="○"/>
            </a:pPr>
            <a:r>
              <a:rPr lang="en"/>
              <a:t>Same corpus, same retrieval pipeline, only vary the generator</a:t>
            </a:r>
            <a:endParaRPr/>
          </a:p>
          <a:p>
            <a:pPr indent="-311150" lvl="0" marL="457200" rtl="0" algn="l">
              <a:spcBef>
                <a:spcPts val="0"/>
              </a:spcBef>
              <a:spcAft>
                <a:spcPts val="0"/>
              </a:spcAft>
              <a:buSzPts val="1300"/>
              <a:buChar char="●"/>
            </a:pPr>
            <a:r>
              <a:rPr lang="en"/>
              <a:t>Test Prompts:</a:t>
            </a:r>
            <a:endParaRPr/>
          </a:p>
          <a:p>
            <a:pPr indent="-298450" lvl="1" marL="914400" rtl="0" algn="l">
              <a:spcBef>
                <a:spcPts val="0"/>
              </a:spcBef>
              <a:spcAft>
                <a:spcPts val="0"/>
              </a:spcAft>
              <a:buSzPts val="1100"/>
              <a:buChar char="○"/>
            </a:pPr>
            <a:r>
              <a:rPr lang="en"/>
              <a:t>Guided meditations (ex: “7-min calming before class,” “post-exercise recovery,” “sleep for anxious mind”).</a:t>
            </a:r>
            <a:endParaRPr/>
          </a:p>
          <a:p>
            <a:pPr indent="-298450" lvl="1" marL="914400" rtl="0" algn="l">
              <a:spcBef>
                <a:spcPts val="0"/>
              </a:spcBef>
              <a:spcAft>
                <a:spcPts val="0"/>
              </a:spcAft>
              <a:buSzPts val="1100"/>
              <a:buChar char="○"/>
            </a:pPr>
            <a:r>
              <a:rPr lang="en"/>
              <a:t>Factual Q&amp;A (ex: “What are evidence-based benefits of meditation for anxiety?”).</a:t>
            </a:r>
            <a:endParaRPr/>
          </a:p>
          <a:p>
            <a:pPr indent="-311150" lvl="0" marL="457200" rtl="0" algn="l">
              <a:spcBef>
                <a:spcPts val="0"/>
              </a:spcBef>
              <a:spcAft>
                <a:spcPts val="0"/>
              </a:spcAft>
              <a:buSzPts val="1300"/>
              <a:buChar char="●"/>
            </a:pPr>
            <a:r>
              <a:rPr lang="en"/>
              <a:t>Quantitative metrics:</a:t>
            </a:r>
            <a:endParaRPr/>
          </a:p>
          <a:p>
            <a:pPr indent="-298450" lvl="1" marL="914400" rtl="0" algn="l">
              <a:spcBef>
                <a:spcPts val="0"/>
              </a:spcBef>
              <a:spcAft>
                <a:spcPts val="0"/>
              </a:spcAft>
              <a:buSzPts val="1100"/>
              <a:buChar char="○"/>
            </a:pPr>
            <a:r>
              <a:rPr lang="en"/>
              <a:t>BLEU score, BERTScore, Factual Grounding Score</a:t>
            </a:r>
            <a:endParaRPr/>
          </a:p>
          <a:p>
            <a:pPr indent="-311150" lvl="0" marL="457200" rtl="0" algn="l">
              <a:spcBef>
                <a:spcPts val="0"/>
              </a:spcBef>
              <a:spcAft>
                <a:spcPts val="0"/>
              </a:spcAft>
              <a:buSzPts val="1300"/>
              <a:buChar char="●"/>
            </a:pPr>
            <a:r>
              <a:rPr lang="en"/>
              <a:t>Qualitative metrics:</a:t>
            </a:r>
            <a:endParaRPr/>
          </a:p>
          <a:p>
            <a:pPr indent="-298450" lvl="1" marL="914400" rtl="0" algn="l">
              <a:spcBef>
                <a:spcPts val="0"/>
              </a:spcBef>
              <a:spcAft>
                <a:spcPts val="0"/>
              </a:spcAft>
              <a:buSzPts val="1100"/>
              <a:buChar char="○"/>
            </a:pPr>
            <a:r>
              <a:rPr lang="en"/>
              <a:t>Tone, relevance flow, user preference</a:t>
            </a:r>
            <a:endParaRPr/>
          </a:p>
          <a:p>
            <a:pPr indent="-311150" lvl="0" marL="457200" rtl="0" algn="l">
              <a:spcBef>
                <a:spcPts val="0"/>
              </a:spcBef>
              <a:spcAft>
                <a:spcPts val="0"/>
              </a:spcAft>
              <a:buSzPts val="1300"/>
              <a:buChar char="●"/>
            </a:pPr>
            <a:r>
              <a:rPr lang="en"/>
              <a:t>Evaluation process:</a:t>
            </a:r>
            <a:endParaRPr/>
          </a:p>
          <a:p>
            <a:pPr indent="-298450" lvl="1" marL="914400" rtl="0" algn="l">
              <a:spcBef>
                <a:spcPts val="0"/>
              </a:spcBef>
              <a:spcAft>
                <a:spcPts val="0"/>
              </a:spcAft>
              <a:buSzPts val="1100"/>
              <a:buChar char="○"/>
            </a:pPr>
            <a:r>
              <a:rPr lang="en"/>
              <a:t>Use identical prompts for all three RAG systems (guided meditations + Q&amp;A)</a:t>
            </a:r>
            <a:endParaRPr/>
          </a:p>
          <a:p>
            <a:pPr indent="-298450" lvl="1" marL="914400" rtl="0" algn="l">
              <a:spcBef>
                <a:spcPts val="0"/>
              </a:spcBef>
              <a:spcAft>
                <a:spcPts val="0"/>
              </a:spcAft>
              <a:buSzPts val="1100"/>
              <a:buChar char="○"/>
            </a:pPr>
            <a:r>
              <a:rPr lang="en"/>
              <a:t>Compute </a:t>
            </a:r>
            <a:r>
              <a:rPr lang="en"/>
              <a:t>quantitative</a:t>
            </a:r>
            <a:r>
              <a:rPr lang="en"/>
              <a:t> metrics</a:t>
            </a:r>
            <a:endParaRPr/>
          </a:p>
          <a:p>
            <a:pPr indent="-298450" lvl="1" marL="914400" rtl="0" algn="l">
              <a:spcBef>
                <a:spcPts val="0"/>
              </a:spcBef>
              <a:spcAft>
                <a:spcPts val="0"/>
              </a:spcAft>
              <a:buSzPts val="1100"/>
              <a:buChar char="○"/>
            </a:pPr>
            <a:r>
              <a:rPr lang="en"/>
              <a:t>Conduct human evaluation on tone, grounding, and preference (will ask others for help on this)</a:t>
            </a:r>
            <a:endParaRPr/>
          </a:p>
          <a:p>
            <a:pPr indent="-298450" lvl="1" marL="914400" rtl="0" algn="l">
              <a:spcBef>
                <a:spcPts val="0"/>
              </a:spcBef>
              <a:spcAft>
                <a:spcPts val="0"/>
              </a:spcAft>
              <a:buSzPts val="1100"/>
              <a:buChar char="○"/>
            </a:pPr>
            <a:r>
              <a:rPr lang="en"/>
              <a:t>Combine results to determine which RAG setup best balances all metrics</a:t>
            </a:r>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Thank you! Please let me know if you have any suggestions. I am passionate about making this project very good.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